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EC987"/>
          </a:solidFill>
          <a:ln w="12700">
            <a:solidFill>
              <a:srgbClr val="4EC9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1280160"/>
            <a:ext cx="2926080" cy="2926080"/>
          </a:xfrm>
          <a:prstGeom prst="ellipse">
            <a:avLst/>
          </a:prstGeom>
          <a:solidFill>
            <a:srgbClr val="145C3C">
              <a:alpha val="45000"/>
            </a:srgbClr>
          </a:solidFill>
          <a:ln w="12700">
            <a:solidFill>
              <a:srgbClr val="145C3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-548640"/>
            <a:ext cx="1645920" cy="1645920"/>
          </a:xfrm>
          <a:prstGeom prst="ellipse">
            <a:avLst/>
          </a:prstGeom>
          <a:solidFill>
            <a:srgbClr val="1B8A5A">
              <a:alpha val="40000"/>
            </a:srgbClr>
          </a:solidFill>
          <a:ln w="12700">
            <a:solidFill>
              <a:srgbClr val="1B8A5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9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ESG CoPilot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530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ESG from Compliance to Strategic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Agents  ·  4 Frameworks  ·  30 KPIs  ·  Audit-Ready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53035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·  Challenges  ·  Approach  ·  Impact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3749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05840"/>
            <a:ext cx="54864" cy="18288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BACKGROUND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CoPilot</a:t>
            </a:r>
            <a:pPr indent="0" marL="0">
              <a:buNone/>
            </a:pPr>
            <a:r>
              <a:rPr lang="en-US" sz="10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agentic AI platform that transforms ESG reporting from a periodic manual task into an always-on intelligent workflow.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</a:t>
            </a:r>
            <a:pPr indent="0" marL="0">
              <a:buNone/>
            </a:pPr>
            <a:r>
              <a:rPr lang="en-US" sz="10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India-listed (BRSR) and EU-regulated (CSRD) enterprises.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GreenTech Solutions — IT Services · 5,200 employees · INR 3,850 Cr · ESG rating BBB → 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0520" y="1005840"/>
            <a:ext cx="775411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1005840"/>
            <a:ext cx="54864" cy="18288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078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CHALLENGES — Why ESG Is Broken Today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389888"/>
            <a:ext cx="1517904" cy="13716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389888"/>
            <a:ext cx="1517904" cy="54864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499616"/>
            <a:ext cx="256032" cy="256032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70832" y="1792224"/>
            <a:ext cx="1380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Fragmentation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70832" y="2103120"/>
            <a:ext cx="1380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across SAP, Workday, finance, procurement. Manual spreadsheet reconciliation is slow &amp; error-prone.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389888"/>
            <a:ext cx="1517904" cy="13716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1389888"/>
            <a:ext cx="151790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25312" y="149961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25312" y="1792224"/>
            <a:ext cx="1380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Complexity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25312" y="2103120"/>
            <a:ext cx="1380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+ CSRD + GRI + SASB — different metrics, thresholds, cadences.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1389888"/>
            <a:ext cx="1517904" cy="13716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1389888"/>
            <a:ext cx="1517904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1499616"/>
            <a:ext cx="256032" cy="25603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79792" y="1792224"/>
            <a:ext cx="1380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Latency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79792" y="2103120"/>
            <a:ext cx="1380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take weeks or months. Backward-looking, not actionable in real time.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0" y="1389888"/>
            <a:ext cx="1517904" cy="13716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1389888"/>
            <a:ext cx="1517904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34272" y="1499616"/>
            <a:ext cx="256032" cy="25603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34272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34272" y="1792224"/>
            <a:ext cx="1380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Greenwashing Risk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34272" y="2103120"/>
            <a:ext cx="1380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metrics diverge from ops data. 73%+ integrity gap rate.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515600" y="1389888"/>
            <a:ext cx="1517904" cy="13716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1389888"/>
            <a:ext cx="1517904" cy="54864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88752" y="1499616"/>
            <a:ext cx="256032" cy="25603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88752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88752" y="1792224"/>
            <a:ext cx="1380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8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Quantified ROI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588752" y="2103120"/>
            <a:ext cx="1380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CFOs need hard numbers — cost savings, carbon tax avoided, CoC reduction.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971800"/>
            <a:ext cx="4937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2971800"/>
            <a:ext cx="54864" cy="2148840"/>
          </a:xfrm>
          <a:prstGeom prst="rect">
            <a:avLst/>
          </a:prstGeom>
          <a:solidFill>
            <a:srgbClr val="4EC987"/>
          </a:solidFill>
          <a:ln w="12700">
            <a:solidFill>
              <a:srgbClr val="4EC9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044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APPROACH — 9-Agent Orchestration Pipeline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1480" y="3364992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3364992"/>
            <a:ext cx="54864" cy="457200"/>
          </a:xfrm>
          <a:prstGeom prst="rect">
            <a:avLst/>
          </a:prstGeom>
          <a:solidFill>
            <a:srgbClr val="4EC987"/>
          </a:solidFill>
          <a:ln w="12700">
            <a:solidFill>
              <a:srgbClr val="4EC98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" y="3383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Data Collector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" y="3602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connectors · auto-schema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993392" y="3364992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93392" y="3364992"/>
            <a:ext cx="54864" cy="4572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03120" y="3383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Regulatory Tracker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103120" y="3602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· CSRD · GRI · SASB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575304" y="3364992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75304" y="3364992"/>
            <a:ext cx="54864" cy="4572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85032" y="3383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Carbon Accountant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685032" y="3602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· hotspots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11480" y="3877056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3877056"/>
            <a:ext cx="54864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" y="3895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Risk Predictor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21208" y="4114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regime · CBAM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993392" y="3877056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93392" y="3877056"/>
            <a:ext cx="54864" cy="4572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03120" y="3895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Audit Agent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103120" y="4114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· integrity gap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75304" y="3877056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75304" y="3877056"/>
            <a:ext cx="54864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85032" y="3895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ESG ROI Agent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3685032" y="4114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ROI · J-curve · IQS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11480" y="4389120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" y="4389120"/>
            <a:ext cx="54864" cy="4572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1208" y="44074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Report Generator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21208" y="4626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 types · narratives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993392" y="4389120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93392" y="4389120"/>
            <a:ext cx="54864" cy="457200"/>
          </a:xfrm>
          <a:prstGeom prst="rect">
            <a:avLst/>
          </a:prstGeom>
          <a:solidFill>
            <a:srgbClr val="4EC987"/>
          </a:solidFill>
          <a:ln w="12700">
            <a:solidFill>
              <a:srgbClr val="4EC98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03120" y="44074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Action Agent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103120" y="4626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prioritized actions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575304" y="4389120"/>
            <a:ext cx="1536192" cy="457200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75304" y="4389120"/>
            <a:ext cx="54864" cy="45720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85032" y="44074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Stakeholder Agent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685032" y="4626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· regulator · public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349240" y="2971800"/>
            <a:ext cx="32918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349240" y="2971800"/>
            <a:ext cx="54864" cy="21488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0" y="3044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DATA LAYER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5486400" y="3337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Connector Types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48640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· Google Sheets · REST API · SQL DB · AWS S3 · BigQuery · GCS · Azure Blob · Delta Lake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486400" y="41330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Canonical Schemas (auto-detected)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486400" y="4370832"/>
            <a:ext cx="749808" cy="292608"/>
          </a:xfrm>
          <a:prstGeom prst="rect">
            <a:avLst/>
          </a:prstGeom>
          <a:solidFill>
            <a:srgbClr val="E85D4A">
              <a:alpha val="18000"/>
            </a:srgbClr>
          </a:solidFill>
          <a:ln w="9525">
            <a:solidFill>
              <a:srgbClr val="E85D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0" y="437083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263640" y="4370832"/>
            <a:ext cx="749808" cy="292608"/>
          </a:xfrm>
          <a:prstGeom prst="rect">
            <a:avLst/>
          </a:prstGeom>
          <a:solidFill>
            <a:srgbClr val="4EC987">
              <a:alpha val="18000"/>
            </a:srgbClr>
          </a:solidFill>
          <a:ln w="9525">
            <a:solidFill>
              <a:srgbClr val="4EC98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63640" y="437083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Metrics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040880" y="4370832"/>
            <a:ext cx="749808" cy="292608"/>
          </a:xfrm>
          <a:prstGeom prst="rect">
            <a:avLst/>
          </a:prstGeom>
          <a:solidFill>
            <a:srgbClr val="F5A623">
              <a:alpha val="18000"/>
            </a:srgbClr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040880" y="437083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818120" y="4370832"/>
            <a:ext cx="749808" cy="292608"/>
          </a:xfrm>
          <a:prstGeom prst="rect">
            <a:avLst/>
          </a:prstGeom>
          <a:solidFill>
            <a:srgbClr val="1B8A5A">
              <a:alpha val="18000"/>
            </a:srgbClr>
          </a:solidFill>
          <a:ln w="9525">
            <a:solidFill>
              <a:srgbClr val="1B8A5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18120" y="437083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486400" y="4700016"/>
            <a:ext cx="749808" cy="292608"/>
          </a:xfrm>
          <a:prstGeom prst="rect">
            <a:avLst/>
          </a:prstGeom>
          <a:solidFill>
            <a:srgbClr val="2D7DD2">
              <a:alpha val="18000"/>
            </a:srgbClr>
          </a:solidFill>
          <a:ln w="9525">
            <a:solidFill>
              <a:srgbClr val="2D7DD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86400" y="4700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263640" y="4700016"/>
            <a:ext cx="749808" cy="292608"/>
          </a:xfrm>
          <a:prstGeom prst="rect">
            <a:avLst/>
          </a:prstGeom>
          <a:solidFill>
            <a:srgbClr val="7B5EA7">
              <a:alpha val="18000"/>
            </a:srgbClr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63640" y="4700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040880" y="4700016"/>
            <a:ext cx="749808" cy="292608"/>
          </a:xfrm>
          <a:prstGeom prst="rect">
            <a:avLst/>
          </a:prstGeom>
          <a:solidFill>
            <a:srgbClr val="4A6580">
              <a:alpha val="18000"/>
            </a:srgbClr>
          </a:solidFill>
          <a:ln w="9525">
            <a:solidFill>
              <a:srgbClr val="4A658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040880" y="4700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8778240" y="2971800"/>
            <a:ext cx="313639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8778240" y="2971800"/>
            <a:ext cx="54864" cy="2148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15400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 COMPLIANCE — 4 Frameworks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915400" y="3337560"/>
            <a:ext cx="2852928" cy="384048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15400" y="3337560"/>
            <a:ext cx="54864" cy="38404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006840" y="3364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BRSR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9646920" y="335584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· India · Mandatory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9646920" y="35204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reqs · GHG · Diversity · CSR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8915400" y="3767328"/>
            <a:ext cx="2852928" cy="384048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15400" y="3767328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006840" y="37947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CSRD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9646920" y="37856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· ESRS · Mandatory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9646920" y="39502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ESRS · Double materiality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8915400" y="4197096"/>
            <a:ext cx="2852928" cy="384048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15400" y="4197096"/>
            <a:ext cx="54864" cy="384048"/>
          </a:xfrm>
          <a:prstGeom prst="rect">
            <a:avLst/>
          </a:prstGeom>
          <a:solidFill>
            <a:srgbClr val="4EC987"/>
          </a:solidFill>
          <a:ln w="12700">
            <a:solidFill>
              <a:srgbClr val="4EC98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06840" y="42245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9646920" y="42153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Voluntary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9646920" y="437997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standards · GRI 302–414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8915400" y="4626864"/>
            <a:ext cx="2852928" cy="384048"/>
          </a:xfrm>
          <a:prstGeom prst="rect">
            <a:avLst/>
          </a:prstGeom>
          <a:solidFill>
            <a:srgbClr val="F4FAF7"/>
          </a:solidFill>
          <a:ln w="6350">
            <a:solidFill>
              <a:srgbClr val="D5EB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915400" y="4626864"/>
            <a:ext cx="54864" cy="38404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006840" y="46542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SASB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9646920" y="464515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Investor-Focused · Global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9646920" y="48097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IT-sector standards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274320" y="5166360"/>
            <a:ext cx="4389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274320" y="5166360"/>
            <a:ext cx="54864" cy="1417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11480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 DUAL ROI FRAMEWORK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411480" y="5504688"/>
            <a:ext cx="1938528" cy="1033272"/>
          </a:xfrm>
          <a:prstGeom prst="rect">
            <a:avLst/>
          </a:prstGeom>
          <a:solidFill>
            <a:srgbClr val="E8F5EE"/>
          </a:solidFill>
          <a:ln w="9525">
            <a:solidFill>
              <a:srgbClr val="1B8A5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75488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8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ROI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02920" y="57424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1,500 / tCO2e avoided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tax + CBAM avoidance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savings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12–24m J-curve payback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2441448" y="5504688"/>
            <a:ext cx="2130552" cy="1033272"/>
          </a:xfrm>
          <a:prstGeom prst="rect">
            <a:avLst/>
          </a:prstGeom>
          <a:solidFill>
            <a:srgbClr val="E8F0FA"/>
          </a:solidFill>
          <a:ln w="9525">
            <a:solidFill>
              <a:srgbClr val="2D7DD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505456" y="5532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ROI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2532888" y="57424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Cost-of-capital reduction (bps)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trajectory BBB → A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retention savings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IQS (0–100) + brand premium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800600" y="5166360"/>
            <a:ext cx="3840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4800600" y="5166360"/>
            <a:ext cx="54864" cy="141732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93776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 IMPACT — Before  →  After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4937760" y="5532120"/>
            <a:ext cx="3611880" cy="192024"/>
          </a:xfrm>
          <a:prstGeom prst="rect">
            <a:avLst/>
          </a:prstGeom>
          <a:solidFill>
            <a:srgbClr val="E8F5EE"/>
          </a:solidFill>
          <a:ln w="3810">
            <a:solidFill>
              <a:srgbClr val="D5EBE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983480" y="554126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850" dirty="0"/>
          </a:p>
        </p:txBody>
      </p:sp>
      <p:sp>
        <p:nvSpPr>
          <p:cNvPr id="143" name="Text 141"/>
          <p:cNvSpPr/>
          <p:nvPr/>
        </p:nvSpPr>
        <p:spPr>
          <a:xfrm>
            <a:off x="5687568" y="5541264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Weeks/months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7013448" y="554126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7150608" y="5541264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4937760" y="5733288"/>
            <a:ext cx="3611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5EBE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983480" y="574243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5687568" y="5742432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framework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7013448" y="5742432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7150608" y="57424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frameworks simultaneously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4937760" y="5934456"/>
            <a:ext cx="3611880" cy="192024"/>
          </a:xfrm>
          <a:prstGeom prst="rect">
            <a:avLst/>
          </a:prstGeom>
          <a:solidFill>
            <a:srgbClr val="E8F5EE"/>
          </a:solidFill>
          <a:ln w="3810">
            <a:solidFill>
              <a:srgbClr val="D5EBE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983480" y="594360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5687568" y="5943600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exposure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7013448" y="5943600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7150608" y="594360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integrity-gap detected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4937760" y="6135624"/>
            <a:ext cx="361188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D5EBE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983480" y="614476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5687568" y="6144768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Anecdotal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7013448" y="614476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7150608" y="6144768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ROI · quantified · IQS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4937760" y="6336792"/>
            <a:ext cx="3611880" cy="192024"/>
          </a:xfrm>
          <a:prstGeom prst="rect">
            <a:avLst/>
          </a:prstGeom>
          <a:solidFill>
            <a:srgbClr val="E8F5EE"/>
          </a:solidFill>
          <a:ln w="3810">
            <a:solidFill>
              <a:srgbClr val="D5EBE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983480" y="634593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5687568" y="6345936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7013448" y="6345936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7150608" y="634593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· CBAM · scenarios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8778240" y="5166360"/>
            <a:ext cx="3136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B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8778240" y="5166360"/>
            <a:ext cx="54864" cy="1417320"/>
          </a:xfrm>
          <a:prstGeom prst="rect">
            <a:avLst/>
          </a:prstGeom>
          <a:solidFill>
            <a:srgbClr val="4EC987"/>
          </a:solidFill>
          <a:ln w="12700">
            <a:solidFill>
              <a:srgbClr val="4EC987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915400" y="5230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 BY THE NUMBERS</a:t>
            </a:r>
            <a:endParaRPr lang="en-US" sz="1200" dirty="0"/>
          </a:p>
        </p:txBody>
      </p:sp>
      <p:sp>
        <p:nvSpPr>
          <p:cNvPr id="169" name="Shape 167"/>
          <p:cNvSpPr/>
          <p:nvPr/>
        </p:nvSpPr>
        <p:spPr>
          <a:xfrm>
            <a:off x="8915400" y="5504688"/>
            <a:ext cx="914400" cy="493776"/>
          </a:xfrm>
          <a:prstGeom prst="rect">
            <a:avLst/>
          </a:prstGeom>
          <a:solidFill>
            <a:srgbClr val="1B8A5A">
              <a:alpha val="15000"/>
            </a:srgbClr>
          </a:solidFill>
          <a:ln w="9525">
            <a:solidFill>
              <a:srgbClr val="1B8A5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8915400" y="5513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1500" dirty="0"/>
          </a:p>
        </p:txBody>
      </p:sp>
      <p:sp>
        <p:nvSpPr>
          <p:cNvPr id="171" name="Text 169"/>
          <p:cNvSpPr/>
          <p:nvPr/>
        </p:nvSpPr>
        <p:spPr>
          <a:xfrm>
            <a:off x="8915400" y="5788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cycles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9875520" y="5504688"/>
            <a:ext cx="914400" cy="493776"/>
          </a:xfrm>
          <a:prstGeom prst="rect">
            <a:avLst/>
          </a:prstGeom>
          <a:solidFill>
            <a:srgbClr val="2D7DD2">
              <a:alpha val="15000"/>
            </a:srgbClr>
          </a:solidFill>
          <a:ln w="9525">
            <a:solidFill>
              <a:srgbClr val="2D7DD2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875520" y="5513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500" dirty="0"/>
          </a:p>
        </p:txBody>
      </p:sp>
      <p:sp>
        <p:nvSpPr>
          <p:cNvPr id="174" name="Text 172"/>
          <p:cNvSpPr/>
          <p:nvPr/>
        </p:nvSpPr>
        <p:spPr>
          <a:xfrm>
            <a:off x="9875520" y="5788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10835640" y="5504688"/>
            <a:ext cx="914400" cy="493776"/>
          </a:xfrm>
          <a:prstGeom prst="rect">
            <a:avLst/>
          </a:prstGeom>
          <a:solidFill>
            <a:srgbClr val="E85D4A">
              <a:alpha val="15000"/>
            </a:srgbClr>
          </a:solidFill>
          <a:ln w="9525">
            <a:solidFill>
              <a:srgbClr val="E85D4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0835640" y="5513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73%+</a:t>
            </a:r>
            <a:endParaRPr lang="en-US" sz="1500" dirty="0"/>
          </a:p>
        </p:txBody>
      </p:sp>
      <p:sp>
        <p:nvSpPr>
          <p:cNvPr id="177" name="Text 175"/>
          <p:cNvSpPr/>
          <p:nvPr/>
        </p:nvSpPr>
        <p:spPr>
          <a:xfrm>
            <a:off x="10835640" y="5788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gaps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8915400" y="6016752"/>
            <a:ext cx="914400" cy="493776"/>
          </a:xfrm>
          <a:prstGeom prst="rect">
            <a:avLst/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915400" y="6025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500" dirty="0"/>
          </a:p>
        </p:txBody>
      </p:sp>
      <p:sp>
        <p:nvSpPr>
          <p:cNvPr id="180" name="Text 178"/>
          <p:cNvSpPr/>
          <p:nvPr/>
        </p:nvSpPr>
        <p:spPr>
          <a:xfrm>
            <a:off x="8915400" y="63002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KPIs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9875520" y="6016752"/>
            <a:ext cx="914400" cy="493776"/>
          </a:xfrm>
          <a:prstGeom prst="rect">
            <a:avLst/>
          </a:prstGeom>
          <a:solidFill>
            <a:srgbClr val="7B5EA7">
              <a:alpha val="15000"/>
            </a:srgbClr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9875520" y="6025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83" name="Text 181"/>
          <p:cNvSpPr/>
          <p:nvPr/>
        </p:nvSpPr>
        <p:spPr>
          <a:xfrm>
            <a:off x="9875520" y="63002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10835640" y="6016752"/>
            <a:ext cx="914400" cy="493776"/>
          </a:xfrm>
          <a:prstGeom prst="rect">
            <a:avLst/>
          </a:prstGeom>
          <a:solidFill>
            <a:srgbClr val="4A6580">
              <a:alpha val="15000"/>
            </a:srgbClr>
          </a:solidFill>
          <a:ln w="9525">
            <a:solidFill>
              <a:srgbClr val="4A658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0835640" y="6025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65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1500" dirty="0"/>
          </a:p>
        </p:txBody>
      </p:sp>
      <p:sp>
        <p:nvSpPr>
          <p:cNvPr id="186" name="Text 184"/>
          <p:cNvSpPr/>
          <p:nvPr/>
        </p:nvSpPr>
        <p:spPr>
          <a:xfrm>
            <a:off x="10835640" y="63002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Actions/run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82880" y="6647688"/>
            <a:ext cx="1182593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E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compliance checkbox to strategic intelligence  ·  Predictive insights  ·  Quantified ROI  ·  Executable recommendations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CoPilot — One-Pager</dc:title>
  <dc:subject>PptxGenJS Presentation</dc:subject>
  <dc:creator>Sayan Adhikary</dc:creator>
  <cp:lastModifiedBy>Sayan Adhikary</cp:lastModifiedBy>
  <cp:revision>1</cp:revision>
  <dcterms:created xsi:type="dcterms:W3CDTF">2026-04-18T11:11:46Z</dcterms:created>
  <dcterms:modified xsi:type="dcterms:W3CDTF">2026-04-18T11:11:46Z</dcterms:modified>
</cp:coreProperties>
</file>